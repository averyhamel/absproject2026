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taptochallenge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onnect.posit.cloud/averyhamel/content/01a1426c-8fe3-aad0-1e3f-e55a1cd7f925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810250" y="3912840"/>
            <a:ext cx="571500" cy="38100"/>
          </a:xfrm>
          <a:prstGeom prst="rect">
            <a:avLst/>
          </a:prstGeom>
          <a:solidFill>
            <a:srgbClr val="2882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274343" y="2411759"/>
            <a:ext cx="364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SAL 605 Final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82885" y="2659409"/>
            <a:ext cx="9826228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MLB 2026 ABS Challenge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69281" y="3360390"/>
            <a:ext cx="845343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4C4DC"/>
                </a:solidFill>
                <a:latin typeface="Inter"/>
                <a:ea typeface="Inter"/>
                <a:cs typeface="Inter"/>
                <a:sym typeface="Inter"/>
              </a:rPr>
              <a:t>Strategic Impact, RE24 Valuation, and Interactive Dashboard Analysis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167312" y="4255740"/>
            <a:ext cx="18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Avery Hamel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609600" y="1563885"/>
            <a:ext cx="3530649" cy="4836914"/>
          </a:xfrm>
          <a:prstGeom prst="roundRect">
            <a:avLst>
              <a:gd fmla="val 3237" name="adj"/>
            </a:avLst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4330749" y="1563885"/>
            <a:ext cx="3530649" cy="4836914"/>
          </a:xfrm>
          <a:prstGeom prst="roundRect">
            <a:avLst>
              <a:gd fmla="val 3237" name="adj"/>
            </a:avLst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8051899" y="1563885"/>
            <a:ext cx="3530649" cy="4836914"/>
          </a:xfrm>
          <a:prstGeom prst="roundRect">
            <a:avLst>
              <a:gd fmla="val 3237" name="adj"/>
            </a:avLst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85825" y="1840110"/>
            <a:ext cx="2978199" cy="219075"/>
          </a:xfrm>
          <a:prstGeom prst="roundRect">
            <a:avLst>
              <a:gd fmla="val 26086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606974" y="1840110"/>
            <a:ext cx="2978199" cy="219075"/>
          </a:xfrm>
          <a:prstGeom prst="roundRect">
            <a:avLst>
              <a:gd fmla="val 26086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8328124" y="1840110"/>
            <a:ext cx="2978199" cy="219075"/>
          </a:xfrm>
          <a:prstGeom prst="roundRect">
            <a:avLst>
              <a:gd fmla="val 26086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8825A"/>
                </a:solidFill>
                <a:latin typeface="Inter"/>
                <a:ea typeface="Inter"/>
                <a:cs typeface="Inter"/>
                <a:sym typeface="Inter"/>
              </a:rPr>
              <a:t>PROJECT OVERVIEW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09600" y="67627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tart of the ABS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hallenge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ra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09600" y="1144785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Evaluating decision-making, run expectancy, and leverage in Major League Baseball through ABS challenges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1878210"/>
            <a:ext cx="28448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Core Motivation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85825" y="2135385"/>
            <a:ext cx="390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Resource </a:t>
            </a:r>
            <a:r>
              <a:rPr b="1" lang="en-US" sz="15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llocation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85825" y="2478285"/>
            <a:ext cx="30735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MLB's automated ball-strike (ABS) challenge system introduces a strategic resource allocation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challenge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, requiring teams to optimize limited challenges across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games while mostly prioritizing high-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leverage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plate appearances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721274" y="1878210"/>
            <a:ext cx="28448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Pipeline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606974" y="2135385"/>
            <a:ext cx="390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Data source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06974" y="2478285"/>
            <a:ext cx="30735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Analyzes 10,557 executed challenges, 16,589 missed opportunities, and 1,658 out-of-challenge events from the 2026 MLB season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(courtesy of </a:t>
            </a:r>
            <a:r>
              <a:rPr lang="en-US" sz="1125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TapToChallenge.com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42424" y="1878210"/>
            <a:ext cx="28448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Key Takeaway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328124" y="2135385"/>
            <a:ext cx="386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Leverage </a:t>
            </a:r>
            <a:r>
              <a:rPr b="1" lang="en-US" sz="15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ominance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328124" y="2478285"/>
            <a:ext cx="3073500" cy="17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The Leverage Index (LI) for a call 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is the primary scalar of run value swings, showing the value of a given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challenge in terms of leverage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. Missed opportunities and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situations where teams run out of challenges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create measurable run-expectancy penalties for teams.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609600" y="1563885"/>
            <a:ext cx="5353050" cy="4836914"/>
          </a:xfrm>
          <a:prstGeom prst="roundRect">
            <a:avLst>
              <a:gd fmla="val 2363" name="adj"/>
            </a:avLst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6229350" y="1563885"/>
            <a:ext cx="5353050" cy="4836914"/>
          </a:xfrm>
          <a:prstGeom prst="roundRect">
            <a:avLst>
              <a:gd fmla="val 2363" name="adj"/>
            </a:avLst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8825A"/>
                </a:solidFill>
                <a:latin typeface="Inter"/>
                <a:ea typeface="Inter"/>
                <a:cs typeface="Inter"/>
                <a:sym typeface="Inter"/>
              </a:rPr>
              <a:t>METHODOLOGY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09600" y="67627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Research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uestions &amp;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ipeline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09600" y="1144785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Structuring </a:t>
            </a:r>
            <a:r>
              <a:rPr lang="en-US" sz="1200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the data to study my chosen questions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85825" y="1840110"/>
            <a:ext cx="6300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esearch </a:t>
            </a:r>
            <a:r>
              <a:rPr b="1" lang="en-US" sz="15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uestions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05575" y="1840110"/>
            <a:ext cx="5686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Methodological </a:t>
            </a:r>
            <a:r>
              <a:rPr b="1" lang="en-US" sz="15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ramework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81075" y="2180629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57275" y="2183010"/>
            <a:ext cx="47244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RE24 </a:t>
            </a:r>
            <a:r>
              <a:rPr b="1"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mpact: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How do ABS challenge outcomes alter run expectancy and game leverage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(LI Call)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81075" y="2685454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57275" y="2687835"/>
            <a:ext cx="47244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Opportunity </a:t>
            </a:r>
            <a:r>
              <a:rPr b="1"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ost: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What is the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un cost of leaving challenges on the table (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issed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pportunities)?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81075" y="3190279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57275" y="3192660"/>
            <a:ext cx="4724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Depletion </a:t>
            </a:r>
            <a:r>
              <a:rPr b="1"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enalty: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What is the cost when teams are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out of challenges 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in high-leverage spots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or during an AB that could have been challenged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600825" y="2163201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77025" y="2179326"/>
            <a:ext cx="47244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State </a:t>
            </a:r>
            <a:r>
              <a:rPr b="1"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ca</a:t>
            </a: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tegorization: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Segmenting plays into Executed Challenges, Missed Opportunities, and Out of Challenges. I also sought to categorize challenges on whether they were initiated by a batter or a pitcher/catcher.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600825" y="3190279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677025" y="3192660"/>
            <a:ext cx="47244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Econometric </a:t>
            </a:r>
            <a:r>
              <a:rPr b="1"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odels: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OLS Regression of RE impact (Model 1) and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a logit GML model of challenge success probability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(Model 2).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600825" y="3695104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677025" y="3697485"/>
            <a:ext cx="4724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Simulation: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Monte Carlo stochastic modeling across 1,000 iterations to project variance.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609600" y="1563885"/>
            <a:ext cx="5353200" cy="4836900"/>
          </a:xfrm>
          <a:prstGeom prst="roundRect">
            <a:avLst>
              <a:gd fmla="val 2363" name="adj"/>
            </a:avLst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971372" y="3219384"/>
            <a:ext cx="1971600" cy="369300"/>
          </a:xfrm>
          <a:prstGeom prst="roundRect">
            <a:avLst>
              <a:gd fmla="val 26086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77050" lIns="154125" spcFirstLastPara="1" rIns="154125" wrap="square" tIns="77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492227" y="3219384"/>
            <a:ext cx="1666200" cy="369300"/>
          </a:xfrm>
          <a:prstGeom prst="roundRect">
            <a:avLst>
              <a:gd fmla="val 26086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77050" lIns="154125" spcFirstLastPara="1" rIns="154125" wrap="square" tIns="77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8825A"/>
                </a:solidFill>
                <a:latin typeface="Inter"/>
                <a:ea typeface="Inter"/>
                <a:cs typeface="Inter"/>
                <a:sym typeface="Inter"/>
              </a:rPr>
              <a:t>ECONOMETRIC MODELING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85825" y="2511624"/>
            <a:ext cx="48960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Over 56% of the variance in potential run expectancy change is explained by game leverage and decision states.</a:t>
            </a:r>
            <a:endParaRPr sz="1300">
              <a:solidFill>
                <a:srgbClr val="EAEAEA"/>
              </a:solidFill>
              <a:highlight>
                <a:srgbClr val="2C282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4650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09600" y="67627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Model 1: Run Expectancy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mpact (OLS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egression)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09600" y="114478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Formula: Potential </a:t>
            </a:r>
            <a:r>
              <a:rPr lang="en-US" sz="1200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Run expectancy change if overturned </a:t>
            </a:r>
            <a:r>
              <a:rPr b="0" i="0" lang="en-US" sz="1200" u="none" cap="none" strike="noStrike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~ </a:t>
            </a:r>
            <a:r>
              <a:rPr lang="en-US" sz="1200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Category type (executed challenges, missed opportunity, out of challenges)</a:t>
            </a:r>
            <a:r>
              <a:rPr b="0" i="0" lang="en-US" sz="1200" u="none" cap="none" strike="noStrike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 + Call LI </a:t>
            </a:r>
            <a:endParaRPr sz="1200">
              <a:solidFill>
                <a:srgbClr val="50607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(N = 28,803)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85825" y="1840110"/>
            <a:ext cx="6300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Model </a:t>
            </a:r>
            <a:r>
              <a:rPr b="1" lang="en-US" sz="15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it &amp; </a:t>
            </a:r>
            <a:r>
              <a:rPr b="1" lang="en-US" sz="15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tatistical </a:t>
            </a:r>
            <a:r>
              <a:rPr b="1" lang="en-US" sz="15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ignificance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85825" y="2183010"/>
            <a:ext cx="600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Adjusted </a:t>
            </a:r>
            <a:r>
              <a:rPr b="1" i="0" lang="en-US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R-squared: 0.562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85825" y="3783656"/>
            <a:ext cx="5686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Key </a:t>
            </a:r>
            <a:r>
              <a:rPr b="1" lang="en-US" sz="15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oefficient </a:t>
            </a:r>
            <a:r>
              <a:rPr b="1" lang="en-US" sz="15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akeaways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117875" y="3304584"/>
            <a:ext cx="182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F-statistic: 1.232e+04</a:t>
            </a:r>
            <a:endParaRPr sz="1700"/>
          </a:p>
        </p:txBody>
      </p:sp>
      <p:sp>
        <p:nvSpPr>
          <p:cNvPr id="149" name="Google Shape;149;p16"/>
          <p:cNvSpPr txBox="1"/>
          <p:nvPr/>
        </p:nvSpPr>
        <p:spPr>
          <a:xfrm>
            <a:off x="3651400" y="3311634"/>
            <a:ext cx="16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p-value: &lt; 2.2e-16</a:t>
            </a:r>
            <a:endParaRPr sz="1200"/>
          </a:p>
        </p:txBody>
      </p:sp>
      <p:sp>
        <p:nvSpPr>
          <p:cNvPr id="150" name="Google Shape;150;p16"/>
          <p:cNvSpPr txBox="1"/>
          <p:nvPr/>
        </p:nvSpPr>
        <p:spPr>
          <a:xfrm>
            <a:off x="885900" y="4085629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62100" y="4088010"/>
            <a:ext cx="47244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Intercept (0.0853):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Baseline expected run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change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for executed challenges at zero leverage.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85900" y="4590454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62100" y="4592835"/>
            <a:ext cx="47244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Missed </a:t>
            </a:r>
            <a:r>
              <a:rPr b="1"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pportunity (-0.0285):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Missed opportunities average 0.028 fewer runs in potential swing value.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85900" y="5095279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62100" y="5097660"/>
            <a:ext cx="47244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Out of </a:t>
            </a:r>
            <a:r>
              <a:rPr b="1"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hallenges (-0.0219):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Depleted states average 0.022 fewer runs in baseline potential swing.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85900" y="5600104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62100" y="5602485"/>
            <a:ext cx="4724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Call LI (+0.0888, p &lt; 2e-16):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For every 1-unit increase in Leverage Index, potential RE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change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increases by nearly 0.09 runs. Leverage is the dominant scalar.</a:t>
            </a:r>
            <a:endParaRPr/>
          </a:p>
        </p:txBody>
      </p:sp>
      <p:pic>
        <p:nvPicPr>
          <p:cNvPr id="158" name="Google Shape;158;p16" title="leverage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7153" y="1991486"/>
            <a:ext cx="5686502" cy="398166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/>
          <p:nvPr/>
        </p:nvSpPr>
        <p:spPr>
          <a:xfrm>
            <a:off x="609600" y="1563875"/>
            <a:ext cx="5139600" cy="4836900"/>
          </a:xfrm>
          <a:prstGeom prst="roundRect">
            <a:avLst>
              <a:gd fmla="val 2363" name="adj"/>
            </a:avLst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8825A"/>
                </a:solidFill>
                <a:latin typeface="Inter"/>
                <a:ea typeface="Inter"/>
                <a:cs typeface="Inter"/>
                <a:sym typeface="Inter"/>
              </a:rPr>
              <a:t>ECONOMETRIC MODELING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09600" y="67627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Model 2: Challenge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uccess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robability (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ogistic GLM)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09600" y="1144785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Formula: Result (True/False) ~ Dist (in.) + xStr% + Call LI (N = 10,556)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85825" y="1840110"/>
            <a:ext cx="6300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Model </a:t>
            </a:r>
            <a:r>
              <a:rPr b="1" lang="en-US" sz="16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="1" i="0" lang="en-US" sz="16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it &amp; </a:t>
            </a:r>
            <a:r>
              <a:rPr b="1" lang="en-US" sz="16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b="1" i="0" lang="en-US" sz="16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iagnostics</a:t>
            </a:r>
            <a:endParaRPr sz="1600"/>
          </a:p>
        </p:txBody>
      </p:sp>
      <p:sp>
        <p:nvSpPr>
          <p:cNvPr id="168" name="Google Shape;168;p17"/>
          <p:cNvSpPr txBox="1"/>
          <p:nvPr/>
        </p:nvSpPr>
        <p:spPr>
          <a:xfrm>
            <a:off x="885825" y="2205679"/>
            <a:ext cx="70767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7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Method:</a:t>
            </a:r>
            <a:r>
              <a:rPr b="0" i="0" lang="en-US" sz="1327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Binomial </a:t>
            </a:r>
            <a:r>
              <a:rPr lang="en-US" sz="1327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b="0" i="0" lang="en-US" sz="1327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ogistic </a:t>
            </a:r>
            <a:r>
              <a:rPr lang="en-US" sz="1327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="0" i="0" lang="en-US" sz="1327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egression (</a:t>
            </a:r>
            <a:r>
              <a:rPr lang="en-US" sz="1327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b="0" i="0" lang="en-US" sz="1327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ogit </a:t>
            </a:r>
            <a:r>
              <a:rPr lang="en-US" sz="1327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li</a:t>
            </a:r>
            <a:r>
              <a:rPr b="0" i="0" lang="en-US" sz="1327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nk)</a:t>
            </a:r>
            <a:endParaRPr sz="1651"/>
          </a:p>
        </p:txBody>
      </p:sp>
      <p:sp>
        <p:nvSpPr>
          <p:cNvPr id="169" name="Google Shape;169;p17"/>
          <p:cNvSpPr txBox="1"/>
          <p:nvPr/>
        </p:nvSpPr>
        <p:spPr>
          <a:xfrm>
            <a:off x="885825" y="2533374"/>
            <a:ext cx="5686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Coefficient </a:t>
            </a:r>
            <a:r>
              <a:rPr b="1" lang="en-US" sz="16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b="1" i="0" lang="en-US" sz="16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nterpretations</a:t>
            </a:r>
            <a:endParaRPr sz="1600"/>
          </a:p>
        </p:txBody>
      </p:sp>
      <p:sp>
        <p:nvSpPr>
          <p:cNvPr id="170" name="Google Shape;170;p17"/>
          <p:cNvSpPr txBox="1"/>
          <p:nvPr/>
        </p:nvSpPr>
        <p:spPr>
          <a:xfrm>
            <a:off x="885824" y="2904239"/>
            <a:ext cx="72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68286" y="2917312"/>
            <a:ext cx="4780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1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Distance from </a:t>
            </a:r>
            <a:r>
              <a:rPr b="1" lang="en-US" sz="12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z</a:t>
            </a:r>
            <a:r>
              <a:rPr b="1" i="0" lang="en-US" sz="12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one (-0.161, p &lt; 0.001):</a:t>
            </a:r>
            <a:r>
              <a:rPr b="0" i="0" lang="en-US" sz="12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As a pitch gets further from the strike zone, overturn success odds decrease. Teams challenge borderline edge calls most frequently.</a:t>
            </a:r>
            <a:endParaRPr sz="1493"/>
          </a:p>
        </p:txBody>
      </p:sp>
      <p:sp>
        <p:nvSpPr>
          <p:cNvPr id="172" name="Google Shape;172;p17"/>
          <p:cNvSpPr txBox="1"/>
          <p:nvPr/>
        </p:nvSpPr>
        <p:spPr>
          <a:xfrm>
            <a:off x="885824" y="3751809"/>
            <a:ext cx="72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68286" y="3759126"/>
            <a:ext cx="478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1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Expected Strike % (+0.995, p &lt; 0.001):</a:t>
            </a:r>
            <a:r>
              <a:rPr b="0" i="0" lang="en-US" sz="12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Higher expected strike probability strongly predicts successful overturns.</a:t>
            </a:r>
            <a:endParaRPr sz="1493"/>
          </a:p>
        </p:txBody>
      </p:sp>
      <p:sp>
        <p:nvSpPr>
          <p:cNvPr id="174" name="Google Shape;174;p17"/>
          <p:cNvSpPr txBox="1"/>
          <p:nvPr/>
        </p:nvSpPr>
        <p:spPr>
          <a:xfrm>
            <a:off x="885824" y="4310149"/>
            <a:ext cx="72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68286" y="4329585"/>
            <a:ext cx="4780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1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Call LI (-0.107, p &lt; 0.001):</a:t>
            </a:r>
            <a:r>
              <a:rPr b="0" i="0" lang="en-US" sz="12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In high leverage situations, executed challenges have slightly lower overturn success, reflecting </a:t>
            </a:r>
            <a:r>
              <a:rPr lang="en-US" sz="12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the strategy but also the weight of </a:t>
            </a:r>
            <a:r>
              <a:rPr b="0" i="0" lang="en-US" sz="12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high-pressure challenges.</a:t>
            </a:r>
            <a:endParaRPr sz="1493"/>
          </a:p>
        </p:txBody>
      </p:sp>
      <p:pic>
        <p:nvPicPr>
          <p:cNvPr id="176" name="Google Shape;176;p17" title="violin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800" y="1714500"/>
            <a:ext cx="6053473" cy="4238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7" name="Google Shape;177;p17"/>
          <p:cNvSpPr txBox="1"/>
          <p:nvPr/>
        </p:nvSpPr>
        <p:spPr>
          <a:xfrm>
            <a:off x="789011" y="5266735"/>
            <a:ext cx="47808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1250" spcFirstLastPara="1" rIns="0" wrap="square" tIns="0">
            <a:spAutoFit/>
          </a:bodyPr>
          <a:lstStyle/>
          <a:p>
            <a:pPr indent="0" lvl="0" marL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Visualization: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hile overall distributions cluster near zero, executed challenges exhibit broader upward dispersion in high-leverage plate appearances.</a:t>
            </a:r>
            <a:endParaRPr sz="1493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/>
          <p:nvPr/>
        </p:nvSpPr>
        <p:spPr>
          <a:xfrm>
            <a:off x="609600" y="1563875"/>
            <a:ext cx="4697100" cy="4825200"/>
          </a:xfrm>
          <a:prstGeom prst="roundRect">
            <a:avLst>
              <a:gd fmla="val 2135" name="adj"/>
            </a:avLst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8825A"/>
                </a:solidFill>
                <a:latin typeface="Inter"/>
                <a:ea typeface="Inter"/>
                <a:cs typeface="Inter"/>
                <a:sym typeface="Inter"/>
              </a:rPr>
              <a:t>EMPIRICAL VISUALIZATION 3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09600" y="67627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Monte Carlo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imulation: Run Expectancy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ariance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09600" y="1144785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Simulated probability density curves across 1</a:t>
            </a:r>
            <a:r>
              <a:rPr lang="en-US" sz="1200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00</a:t>
            </a:r>
            <a:r>
              <a:rPr b="0" i="0" lang="en-US" sz="1200" u="none" cap="none" strike="noStrike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 iterations</a:t>
            </a:r>
            <a:r>
              <a:rPr lang="en-US" sz="1200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, so the Shiny app doesn’t crash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85825" y="1840110"/>
            <a:ext cx="6300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Visualization </a:t>
            </a:r>
            <a:r>
              <a:rPr b="1" lang="en-US" sz="16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b="1" i="0" lang="en-US" sz="16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nsight</a:t>
            </a:r>
            <a:endParaRPr sz="1600"/>
          </a:p>
        </p:txBody>
      </p:sp>
      <p:sp>
        <p:nvSpPr>
          <p:cNvPr id="187" name="Google Shape;187;p18"/>
          <p:cNvSpPr txBox="1"/>
          <p:nvPr/>
        </p:nvSpPr>
        <p:spPr>
          <a:xfrm>
            <a:off x="885825" y="2328600"/>
            <a:ext cx="4058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Capturing game-state uncertainty, this Monte Carlo simulation density plot models stochastic variance in potential run expectancy changes across 1,000 iterations.</a:t>
            </a:r>
            <a:endParaRPr sz="1300"/>
          </a:p>
        </p:txBody>
      </p:sp>
      <p:sp>
        <p:nvSpPr>
          <p:cNvPr id="188" name="Google Shape;188;p18"/>
          <p:cNvSpPr txBox="1"/>
          <p:nvPr/>
        </p:nvSpPr>
        <p:spPr>
          <a:xfrm>
            <a:off x="885825" y="3731913"/>
            <a:ext cx="4058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The overlapping density curves illustrate consistent risk profiles and </a:t>
            </a:r>
            <a:r>
              <a:rPr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restricted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potential value across executed challenges, missed opportunities, and </a:t>
            </a:r>
            <a:r>
              <a:rPr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no challenge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states.</a:t>
            </a:r>
            <a:endParaRPr sz="1300"/>
          </a:p>
        </p:txBody>
      </p:sp>
      <p:pic>
        <p:nvPicPr>
          <p:cNvPr id="189" name="Google Shape;189;p18" title="monte_carlo_sim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3564" y="1860913"/>
            <a:ext cx="6467000" cy="452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/>
          <p:nvPr/>
        </p:nvSpPr>
        <p:spPr>
          <a:xfrm>
            <a:off x="609600" y="1507189"/>
            <a:ext cx="5353200" cy="4836900"/>
          </a:xfrm>
          <a:prstGeom prst="roundRect">
            <a:avLst>
              <a:gd fmla="val 2363" name="adj"/>
            </a:avLst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6229350" y="1563885"/>
            <a:ext cx="5353050" cy="4836914"/>
          </a:xfrm>
          <a:prstGeom prst="roundRect">
            <a:avLst>
              <a:gd fmla="val 2363" name="adj"/>
            </a:avLst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8825A"/>
                </a:solidFill>
                <a:latin typeface="Inter"/>
                <a:ea typeface="Inter"/>
                <a:cs typeface="Inter"/>
                <a:sym typeface="Inter"/>
              </a:rPr>
              <a:t>INTERACTIVE SOFTWARE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09600" y="67627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R Shiny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ashboard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09600" y="1144785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Team and player filters allow users to explore deeper into the player-season and team-season-level data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85825" y="1840110"/>
            <a:ext cx="6300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User Interface &amp; </a:t>
            </a:r>
            <a:r>
              <a:rPr b="1" lang="en-US" sz="16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="1" i="0" lang="en-US" sz="16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eactivity</a:t>
            </a:r>
            <a:endParaRPr sz="1600"/>
          </a:p>
        </p:txBody>
      </p:sp>
      <p:sp>
        <p:nvSpPr>
          <p:cNvPr id="200" name="Google Shape;200;p19"/>
          <p:cNvSpPr txBox="1"/>
          <p:nvPr/>
        </p:nvSpPr>
        <p:spPr>
          <a:xfrm>
            <a:off x="6505575" y="1840110"/>
            <a:ext cx="5686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Dashboard </a:t>
            </a:r>
            <a:r>
              <a:rPr b="1" lang="en-US" sz="16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1" i="0" lang="en-US" sz="16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abs &amp; </a:t>
            </a:r>
            <a:r>
              <a:rPr b="1" lang="en-US" sz="16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b="1" i="0" lang="en-US" sz="16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utputs</a:t>
            </a:r>
            <a:endParaRPr sz="1600"/>
          </a:p>
        </p:txBody>
      </p:sp>
      <p:sp>
        <p:nvSpPr>
          <p:cNvPr id="201" name="Google Shape;201;p19"/>
          <p:cNvSpPr txBox="1"/>
          <p:nvPr/>
        </p:nvSpPr>
        <p:spPr>
          <a:xfrm>
            <a:off x="981075" y="2180629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057275" y="2183010"/>
            <a:ext cx="4724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Team &amp; Player </a:t>
            </a:r>
            <a:r>
              <a:rPr b="1"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electors: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Dropdown menus allowing users to toggle between league-wide views, specific franchises, or individual players.</a:t>
            </a:r>
            <a:endParaRPr sz="1300"/>
          </a:p>
        </p:txBody>
      </p:sp>
      <p:sp>
        <p:nvSpPr>
          <p:cNvPr id="203" name="Google Shape;203;p19"/>
          <p:cNvSpPr txBox="1"/>
          <p:nvPr/>
        </p:nvSpPr>
        <p:spPr>
          <a:xfrm>
            <a:off x="1019175" y="3101871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095375" y="3104252"/>
            <a:ext cx="4724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Metric </a:t>
            </a:r>
            <a:r>
              <a:rPr b="1"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election: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Dynamic switching between Potential RE Delta, Leverage Index (Call LI), and Zone Distance for the violin plot.</a:t>
            </a:r>
            <a:endParaRPr sz="1300"/>
          </a:p>
        </p:txBody>
      </p:sp>
      <p:sp>
        <p:nvSpPr>
          <p:cNvPr id="205" name="Google Shape;205;p19"/>
          <p:cNvSpPr txBox="1"/>
          <p:nvPr/>
        </p:nvSpPr>
        <p:spPr>
          <a:xfrm>
            <a:off x="6600825" y="2203308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677025" y="2205689"/>
            <a:ext cx="4724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Strategy </a:t>
            </a:r>
            <a:r>
              <a:rPr b="1"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omparison </a:t>
            </a:r>
            <a:r>
              <a:rPr b="1"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anel: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Dynamic violin plots and box </a:t>
            </a:r>
            <a:r>
              <a:rPr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plots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with selectors to explore across challenge states.</a:t>
            </a:r>
            <a:endParaRPr sz="1300"/>
          </a:p>
        </p:txBody>
      </p:sp>
      <p:sp>
        <p:nvSpPr>
          <p:cNvPr id="207" name="Google Shape;207;p19"/>
          <p:cNvSpPr txBox="1"/>
          <p:nvPr/>
        </p:nvSpPr>
        <p:spPr>
          <a:xfrm>
            <a:off x="6638925" y="2851029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715125" y="2853410"/>
            <a:ext cx="4724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Leverage vs. RE </a:t>
            </a:r>
            <a:r>
              <a:rPr b="1"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rend: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Interactive OLS trend analysis with</a:t>
            </a:r>
            <a:r>
              <a:rPr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confidence intervals </a:t>
            </a:r>
            <a:r>
              <a:rPr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to visualize Model 1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300"/>
          </a:p>
        </p:txBody>
      </p:sp>
      <p:sp>
        <p:nvSpPr>
          <p:cNvPr id="209" name="Google Shape;209;p19"/>
          <p:cNvSpPr txBox="1"/>
          <p:nvPr/>
        </p:nvSpPr>
        <p:spPr>
          <a:xfrm>
            <a:off x="6600825" y="3524979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677025" y="3527350"/>
            <a:ext cx="4762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Monte Carlo Simulation Tab: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Live density spread visualization to explain the simulation results.</a:t>
            </a:r>
            <a:endParaRPr sz="1300"/>
          </a:p>
        </p:txBody>
      </p:sp>
      <p:sp>
        <p:nvSpPr>
          <p:cNvPr id="211" name="Google Shape;211;p19"/>
          <p:cNvSpPr txBox="1"/>
          <p:nvPr/>
        </p:nvSpPr>
        <p:spPr>
          <a:xfrm>
            <a:off x="6638925" y="4201292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715125" y="4203673"/>
            <a:ext cx="4724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Strategy </a:t>
            </a:r>
            <a:r>
              <a:rPr b="1"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ata </a:t>
            </a:r>
            <a:r>
              <a:rPr b="1"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1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able: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A dynamic and c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ontext-aware summary table that adapts from league-wide team leaderboards to player rosters, sorted by leverage.</a:t>
            </a:r>
            <a:endParaRPr sz="1300"/>
          </a:p>
        </p:txBody>
      </p:sp>
      <p:sp>
        <p:nvSpPr>
          <p:cNvPr id="213" name="Google Shape;213;p19"/>
          <p:cNvSpPr txBox="1"/>
          <p:nvPr/>
        </p:nvSpPr>
        <p:spPr>
          <a:xfrm>
            <a:off x="1095375" y="4074327"/>
            <a:ext cx="4724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Visualizations:</a:t>
            </a:r>
            <a:r>
              <a:rPr b="0" i="0" lang="en-US" sz="1300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Included visualizations to explain both models and the Monte Carlo simulations, along with a team-based bar plot and strategy data table.</a:t>
            </a:r>
            <a:endParaRPr sz="1300"/>
          </a:p>
        </p:txBody>
      </p:sp>
      <p:sp>
        <p:nvSpPr>
          <p:cNvPr id="214" name="Google Shape;214;p19"/>
          <p:cNvSpPr txBox="1"/>
          <p:nvPr/>
        </p:nvSpPr>
        <p:spPr>
          <a:xfrm>
            <a:off x="9779450" y="1129552"/>
            <a:ext cx="472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Shiny app access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/>
          <p:nvPr/>
        </p:nvSpPr>
        <p:spPr>
          <a:xfrm>
            <a:off x="609600" y="1563880"/>
            <a:ext cx="3530700" cy="2640600"/>
          </a:xfrm>
          <a:prstGeom prst="roundRect">
            <a:avLst>
              <a:gd fmla="val 323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330750" y="1563879"/>
            <a:ext cx="3530700" cy="2640600"/>
          </a:xfrm>
          <a:prstGeom prst="roundRect">
            <a:avLst>
              <a:gd fmla="val 323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8051900" y="1563880"/>
            <a:ext cx="3530700" cy="2640600"/>
          </a:xfrm>
          <a:prstGeom prst="roundRect">
            <a:avLst>
              <a:gd fmla="val 323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CONCLUSIONS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09600" y="67627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ABS s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trategic </a:t>
            </a:r>
            <a:r>
              <a:rPr b="1" lang="en-US" sz="27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1" i="0" lang="en-US" sz="27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akeaways</a:t>
            </a:r>
            <a:endParaRPr>
              <a:solidFill>
                <a:srgbClr val="0F2043"/>
              </a:solidFill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09600" y="1144785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06070"/>
                </a:solidFill>
                <a:latin typeface="Inter"/>
                <a:ea typeface="Inter"/>
                <a:cs typeface="Inter"/>
                <a:sym typeface="Inter"/>
              </a:rPr>
              <a:t>What do these models, simulations, and visualizations tell us about ABS in its first MLB season?</a:t>
            </a:r>
            <a:endParaRPr>
              <a:solidFill>
                <a:srgbClr val="506070"/>
              </a:solidFill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885825" y="1788435"/>
            <a:ext cx="284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Priority 01</a:t>
            </a:r>
            <a:endParaRPr sz="1500">
              <a:solidFill>
                <a:srgbClr val="0F2043"/>
              </a:solidFill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885825" y="2135385"/>
            <a:ext cx="3909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Leverage is </a:t>
            </a:r>
            <a:r>
              <a:rPr b="1" lang="en-US" sz="13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b="1" i="0" lang="en-US" sz="13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ing</a:t>
            </a:r>
            <a:endParaRPr sz="1300">
              <a:solidFill>
                <a:srgbClr val="0F2043"/>
              </a:solidFill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885825" y="2478285"/>
            <a:ext cx="30735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Teams must preserve challenges for high-leverage index (Call LI) situations. Run-value costs scale rapidly with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game pressure and leverage situations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>
              <a:solidFill>
                <a:srgbClr val="46505F"/>
              </a:solidFill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606974" y="1788435"/>
            <a:ext cx="284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Priority 02</a:t>
            </a:r>
            <a:endParaRPr sz="1500">
              <a:solidFill>
                <a:srgbClr val="0F2043"/>
              </a:solidFill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606974" y="2135385"/>
            <a:ext cx="3909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Resource </a:t>
            </a:r>
            <a:r>
              <a:rPr b="1" lang="en-US" sz="13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b="1" i="0" lang="en-US" sz="13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epletion</a:t>
            </a:r>
            <a:endParaRPr sz="1300">
              <a:solidFill>
                <a:srgbClr val="0F2043"/>
              </a:solidFill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606974" y="2478285"/>
            <a:ext cx="30735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Being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ut of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hallenges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carries a measurable run expectancy penalty, leaving teams vulnerable to late-inning blown calls. 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This re-emphasizes the importance of conserving challenges when possible, making decision making even more difficult.</a:t>
            </a:r>
            <a:endParaRPr>
              <a:solidFill>
                <a:srgbClr val="46505F"/>
              </a:solidFill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8328124" y="1788435"/>
            <a:ext cx="284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Priority 03</a:t>
            </a:r>
            <a:endParaRPr sz="1500">
              <a:solidFill>
                <a:srgbClr val="0F2043"/>
              </a:solidFill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8328124" y="2135385"/>
            <a:ext cx="3864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Dashboard </a:t>
            </a:r>
            <a:r>
              <a:rPr b="1" lang="en-US" sz="1300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="1" i="0" lang="en-US" sz="1300" u="none" cap="none" strike="noStrike">
                <a:solidFill>
                  <a:srgbClr val="0F2043"/>
                </a:solidFill>
                <a:latin typeface="Inter"/>
                <a:ea typeface="Inter"/>
                <a:cs typeface="Inter"/>
                <a:sym typeface="Inter"/>
              </a:rPr>
              <a:t>alue</a:t>
            </a:r>
            <a:endParaRPr sz="1300">
              <a:solidFill>
                <a:srgbClr val="0F2043"/>
              </a:solidFill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8328124" y="2478285"/>
            <a:ext cx="30735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The interactive R Shiny application bridges our advanced modeling an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d simulation 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with practical baseball operations strategy and an intera</a:t>
            </a:r>
            <a:r>
              <a:rPr lang="en-US" sz="1125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ctive, visual explanatory platform</a:t>
            </a:r>
            <a:r>
              <a:rPr b="0" i="0" lang="en-US" sz="1125" u="none" cap="none" strike="noStrike">
                <a:solidFill>
                  <a:srgbClr val="4650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>
              <a:solidFill>
                <a:srgbClr val="46505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